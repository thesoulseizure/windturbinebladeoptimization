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80" r:id="rId1"/>
  </p:sldMasterIdLst>
  <p:sldIdLst>
    <p:sldId id="256" r:id="rId2"/>
    <p:sldId id="290" r:id="rId3"/>
    <p:sldId id="295" r:id="rId4"/>
    <p:sldId id="292" r:id="rId5"/>
    <p:sldId id="291" r:id="rId6"/>
    <p:sldId id="293" r:id="rId7"/>
    <p:sldId id="294" r:id="rId8"/>
    <p:sldId id="276" r:id="rId9"/>
    <p:sldId id="275" r:id="rId10"/>
    <p:sldId id="274" r:id="rId11"/>
    <p:sldId id="273" r:id="rId12"/>
    <p:sldId id="272" r:id="rId13"/>
    <p:sldId id="296" r:id="rId14"/>
    <p:sldId id="271" r:id="rId15"/>
    <p:sldId id="270" r:id="rId16"/>
    <p:sldId id="269" r:id="rId17"/>
    <p:sldId id="268" r:id="rId18"/>
    <p:sldId id="267" r:id="rId19"/>
    <p:sldId id="266" r:id="rId20"/>
    <p:sldId id="265" r:id="rId21"/>
    <p:sldId id="264" r:id="rId22"/>
    <p:sldId id="263" r:id="rId23"/>
    <p:sldId id="261" r:id="rId24"/>
    <p:sldId id="260" r:id="rId25"/>
    <p:sldId id="259" r:id="rId26"/>
    <p:sldId id="286" r:id="rId27"/>
    <p:sldId id="287" r:id="rId28"/>
    <p:sldId id="257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0" d="100"/>
          <a:sy n="70" d="100"/>
        </p:scale>
        <p:origin x="-828" y="-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81" r:id="rId1"/>
    <p:sldLayoutId id="2147484382" r:id="rId2"/>
    <p:sldLayoutId id="2147484383" r:id="rId3"/>
    <p:sldLayoutId id="2147484384" r:id="rId4"/>
    <p:sldLayoutId id="2147484385" r:id="rId5"/>
    <p:sldLayoutId id="2147484386" r:id="rId6"/>
    <p:sldLayoutId id="2147484387" r:id="rId7"/>
    <p:sldLayoutId id="2147484388" r:id="rId8"/>
    <p:sldLayoutId id="2147484389" r:id="rId9"/>
    <p:sldLayoutId id="2147484390" r:id="rId10"/>
    <p:sldLayoutId id="214748439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audio" Target="../media/audio3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dinesh chandra\Pictures\Screenshots\Screenshot (32)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-1933575" y="-228600"/>
            <a:ext cx="13011150" cy="7315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/>
          <p:cNvSpPr txBox="1"/>
          <p:nvPr/>
        </p:nvSpPr>
        <p:spPr>
          <a:xfrm>
            <a:off x="5638800" y="4572000"/>
            <a:ext cx="3129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16881A0368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voltag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" y="685800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 smtClean="0"/>
              <a:t>ANALYSIS OF WIND TURBINE BLADE</a:t>
            </a:r>
            <a:endParaRPr lang="en-US" sz="3600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2209800"/>
            <a:ext cx="33057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/>
              <a:t>SOFTWARE USED :</a:t>
            </a:r>
            <a:endParaRPr lang="en-US" sz="2800" b="1" u="sng" dirty="0"/>
          </a:p>
        </p:txBody>
      </p:sp>
      <p:sp>
        <p:nvSpPr>
          <p:cNvPr id="7" name="TextBox 6"/>
          <p:cNvSpPr txBox="1"/>
          <p:nvPr/>
        </p:nvSpPr>
        <p:spPr>
          <a:xfrm>
            <a:off x="1828800" y="2971800"/>
            <a:ext cx="3150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ANSYS WORKBENCH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3962400"/>
            <a:ext cx="31870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/>
              <a:t>MATERIAL USED :</a:t>
            </a:r>
            <a:endParaRPr lang="en-US" sz="2800" b="1" u="sng" dirty="0"/>
          </a:p>
        </p:txBody>
      </p:sp>
      <p:sp>
        <p:nvSpPr>
          <p:cNvPr id="9" name="TextBox 8"/>
          <p:cNvSpPr txBox="1"/>
          <p:nvPr/>
        </p:nvSpPr>
        <p:spPr>
          <a:xfrm>
            <a:off x="2133600" y="4800600"/>
            <a:ext cx="2986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ALUMINIUM ALLOY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voltag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voltag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voltag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voltag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voltag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7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9144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4800" y="533400"/>
            <a:ext cx="853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 smtClean="0"/>
              <a:t>WIND TURBINE BLADE</a:t>
            </a:r>
            <a:endParaRPr lang="en-US" sz="3200" b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685800"/>
            <a:ext cx="8839200" cy="5999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u="sng" dirty="0" smtClean="0"/>
              <a:t>ANALYSIS</a:t>
            </a:r>
            <a:r>
              <a:rPr lang="en-US" b="1" dirty="0" smtClean="0"/>
              <a:t> :</a:t>
            </a:r>
          </a:p>
          <a:p>
            <a:pPr>
              <a:buFont typeface="Arial" pitchFamily="34" charset="0"/>
              <a:buChar char="•"/>
            </a:pPr>
            <a:r>
              <a:rPr lang="en-US" b="1" u="sng" dirty="0" smtClean="0"/>
              <a:t>CASE</a:t>
            </a:r>
            <a:r>
              <a:rPr lang="en-US" b="1" dirty="0" smtClean="0"/>
              <a:t> </a:t>
            </a:r>
            <a:r>
              <a:rPr lang="en-US" b="1" u="sng" dirty="0" smtClean="0"/>
              <a:t>1</a:t>
            </a:r>
            <a:r>
              <a:rPr lang="en-US" b="1" dirty="0" smtClean="0"/>
              <a:t> 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Perform Transient Structural Analysis with linked modal Analysis with the following inputs 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Max Pressure : 101325 Pa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Apply Pressure on the blade and constraint the end locations ( </a:t>
            </a:r>
            <a:r>
              <a:rPr lang="en-US" dirty="0" err="1" smtClean="0"/>
              <a:t>i.e</a:t>
            </a:r>
            <a:r>
              <a:rPr lang="en-US" dirty="0" smtClean="0"/>
              <a:t>, holes)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Perform the Analysis for 100 sec.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u="sng" dirty="0" smtClean="0"/>
              <a:t>MODAL</a:t>
            </a:r>
            <a:r>
              <a:rPr lang="en-US" dirty="0" smtClean="0"/>
              <a:t> </a:t>
            </a:r>
            <a:r>
              <a:rPr lang="en-US" u="sng" dirty="0" smtClean="0"/>
              <a:t>ANALYSIS</a:t>
            </a:r>
            <a:r>
              <a:rPr lang="en-US" dirty="0" smtClean="0"/>
              <a:t> 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Perform the modal analysis with pre-stress condition as static structural analysis 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Number of modes to find : 6</a:t>
            </a:r>
          </a:p>
          <a:p>
            <a:endParaRPr lang="en-US" dirty="0" smtClean="0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u="sng" dirty="0" smtClean="0"/>
              <a:t>OUTPUT</a:t>
            </a:r>
            <a:r>
              <a:rPr lang="en-US" dirty="0" smtClean="0"/>
              <a:t> 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Stress (Von-</a:t>
            </a:r>
            <a:r>
              <a:rPr lang="en-US" dirty="0" err="1" smtClean="0"/>
              <a:t>Mises</a:t>
            </a:r>
            <a:r>
              <a:rPr lang="en-US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Deformation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Strain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Factor of safety.</a:t>
            </a:r>
          </a:p>
          <a:p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33401"/>
            <a:ext cx="831189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u="sng" dirty="0" smtClean="0"/>
              <a:t>CASE 2:</a:t>
            </a:r>
            <a:endParaRPr lang="en-US" sz="2000" b="1" dirty="0" smtClean="0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u="sng" dirty="0" smtClean="0"/>
              <a:t>HARMONIC </a:t>
            </a:r>
            <a:r>
              <a:rPr lang="en-US" b="1" dirty="0" smtClean="0"/>
              <a:t> </a:t>
            </a:r>
            <a:r>
              <a:rPr lang="en-US" b="1" u="sng" dirty="0" smtClean="0"/>
              <a:t>ANALYSIS</a:t>
            </a:r>
            <a:r>
              <a:rPr lang="en-US" b="1" dirty="0" smtClean="0"/>
              <a:t> :(</a:t>
            </a:r>
            <a:r>
              <a:rPr lang="en-US" dirty="0" smtClean="0"/>
              <a:t>MODE SUPERPOSITION)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Max Frequency : 300 Hz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Max Pressure : 101325 Pa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Apply pressure on the blade and constraint the end location( </a:t>
            </a:r>
            <a:r>
              <a:rPr lang="en-US" dirty="0" err="1" smtClean="0"/>
              <a:t>i.e</a:t>
            </a:r>
            <a:r>
              <a:rPr lang="en-US" dirty="0" smtClean="0"/>
              <a:t>, holes)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u="sng" dirty="0" smtClean="0"/>
              <a:t>OUTPUT: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Displacement(Vs)Frequency.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685800" y="3048001"/>
            <a:ext cx="65532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u="sng" dirty="0" smtClean="0"/>
              <a:t>CASE 3: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u="sng" dirty="0" smtClean="0"/>
              <a:t>FATIGUE ANALYSIS</a:t>
            </a:r>
            <a:r>
              <a:rPr lang="en-US" b="1" dirty="0" smtClean="0"/>
              <a:t> </a:t>
            </a:r>
            <a:r>
              <a:rPr lang="en-US" dirty="0" smtClean="0"/>
              <a:t>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Using the above conditions perform fatigue analysis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u="sng" dirty="0" smtClean="0"/>
              <a:t>OUTPUT</a:t>
            </a:r>
            <a:r>
              <a:rPr lang="en-US" dirty="0" smtClean="0"/>
              <a:t> 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Life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Damage.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609600"/>
            <a:ext cx="853440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 smtClean="0"/>
              <a:t>DETAILS OF MESH</a:t>
            </a:r>
            <a:endParaRPr lang="en-US" sz="3600" b="1" u="sng" dirty="0" smtClean="0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u="sng" dirty="0" smtClean="0"/>
              <a:t>Mesh size</a:t>
            </a:r>
            <a:r>
              <a:rPr lang="en-US" sz="2400" dirty="0" smtClean="0"/>
              <a:t> : Max element size-34 mm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                   Min element size-19 mm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u="sng" dirty="0" smtClean="0"/>
              <a:t>Element order</a:t>
            </a:r>
            <a:r>
              <a:rPr lang="en-US" sz="2400" dirty="0" smtClean="0"/>
              <a:t> : linear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u="sng" dirty="0" smtClean="0"/>
              <a:t>Element size</a:t>
            </a:r>
            <a:r>
              <a:rPr lang="en-US" sz="2400" dirty="0" smtClean="0"/>
              <a:t> : default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u="sng" dirty="0" smtClean="0"/>
              <a:t>Mesh type</a:t>
            </a:r>
            <a:r>
              <a:rPr lang="en-US" sz="2400" dirty="0" smtClean="0"/>
              <a:t> : 3-D,Tetra-meshing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u="sng" dirty="0" smtClean="0"/>
              <a:t>Element shape</a:t>
            </a:r>
            <a:r>
              <a:rPr lang="en-US" sz="2400" dirty="0" smtClean="0"/>
              <a:t> : Tetra </a:t>
            </a:r>
            <a:r>
              <a:rPr lang="en-US" sz="2400" dirty="0" err="1" smtClean="0"/>
              <a:t>hedron</a:t>
            </a:r>
            <a:endParaRPr lang="en-US" sz="2400" dirty="0" smtClean="0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u="sng" dirty="0" smtClean="0"/>
              <a:t>NODES</a:t>
            </a:r>
            <a:r>
              <a:rPr lang="en-US" sz="2400" dirty="0" smtClean="0"/>
              <a:t> : 4024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u="sng" dirty="0" smtClean="0"/>
              <a:t>ELEMENTS</a:t>
            </a:r>
            <a:r>
              <a:rPr lang="en-US" sz="2400" dirty="0" smtClean="0"/>
              <a:t> : 15287</a:t>
            </a:r>
            <a:endParaRPr lang="en-US" sz="2400" u="sng" dirty="0" smtClean="0"/>
          </a:p>
          <a:p>
            <a:endParaRPr lang="en-US" sz="2400" dirty="0" smtClean="0"/>
          </a:p>
          <a:p>
            <a:endParaRPr lang="en-US" sz="2400" b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6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2524"/>
            <a:ext cx="9144000" cy="45129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533400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 smtClean="0"/>
              <a:t>MESH</a:t>
            </a:r>
            <a:endParaRPr lang="en-US" sz="3600" b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dinesh chandra\Pictures\Screenshots\Screenshot (42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133600" y="0"/>
            <a:ext cx="1301115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dinesh chandra\Pictures\Screenshots\Screenshot (43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933575" y="-228600"/>
            <a:ext cx="1301115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dinesh chandra\Pictures\Screenshots\Screenshot (44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933575" y="-228600"/>
            <a:ext cx="1301115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:\Users\dinesh chandra\Pictures\Screenshots\Screenshot (45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933575" y="-228600"/>
            <a:ext cx="1301115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Users\dinesh chandra\Pictures\Screenshots\Screenshot (46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933575" y="-228600"/>
            <a:ext cx="1301115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7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738"/>
            <a:ext cx="9144000" cy="51445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" y="533400"/>
            <a:ext cx="861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 smtClean="0"/>
              <a:t>LINKING STRUCTURAL WITH MODAL</a:t>
            </a:r>
            <a:endParaRPr lang="en-US" sz="2800" b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Users\dinesh chandra\Pictures\Screenshots\Screenshot (47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933575" y="-228600"/>
            <a:ext cx="1301115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C:\Users\dinesh chandra\Pictures\Screenshots\Screenshot (48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933575" y="-228600"/>
            <a:ext cx="1301115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C:\Users\dinesh chandra\Pictures\Screenshots\Screenshot (49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933575" y="-228600"/>
            <a:ext cx="1301115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C:\Users\dinesh chandra\Pictures\Screenshots\Screenshot (50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933575" y="-228600"/>
            <a:ext cx="1301115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C:\Users\dinesh chandra\Pictures\Screenshots\Screenshot (51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933575" y="-228600"/>
            <a:ext cx="1301115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C:\Users\dinesh chandra\Pictures\Screenshots\Screenshot (52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933575" y="-228600"/>
            <a:ext cx="1301115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C:\Users\dinesh chandra\Pictures\Screenshots\Screenshot (53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933575" y="-228600"/>
            <a:ext cx="1301115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C:\Users\dinesh chandra\Pictures\Screenshots\Screenshot (54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933575" y="-228600"/>
            <a:ext cx="1301115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C:\Users\dinesh chandra\Pictures\Screenshots\Screenshot (55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933575" y="-228600"/>
            <a:ext cx="1301115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C:\Users\dinesh chandra\Pictures\Screenshots\Screenshot (56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933575" y="-228600"/>
            <a:ext cx="1301115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C:\Users\dinesh chandra\Pictures\Screenshots\Screenshot (57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933575" y="-228600"/>
            <a:ext cx="1301115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C:\Users\dinesh chandra\Pictures\Screenshots\Screenshot (58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933575" y="-228600"/>
            <a:ext cx="13011150" cy="7315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52401" y="1828800"/>
          <a:ext cx="88392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874520"/>
                <a:gridCol w="1737360"/>
                <a:gridCol w="1737360"/>
                <a:gridCol w="173736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DEFORMATION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STRESS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STRAIN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SAFETY FACTOR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TRANSIENT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0.046712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1.385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7.73732e-6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686800" cy="1600200"/>
          </a:xfrm>
        </p:spPr>
        <p:txBody>
          <a:bodyPr>
            <a:normAutofit/>
          </a:bodyPr>
          <a:lstStyle/>
          <a:p>
            <a:r>
              <a:rPr lang="en-IN" sz="2400" dirty="0" smtClean="0"/>
              <a:t>As I have calculated the </a:t>
            </a:r>
            <a:r>
              <a:rPr lang="en-IN" sz="2400" dirty="0" err="1" smtClean="0"/>
              <a:t>deformation,stress,strain,factor</a:t>
            </a:r>
            <a:r>
              <a:rPr lang="en-IN" sz="2400" dirty="0" smtClean="0"/>
              <a:t> of safety with aluminium and the same is shown as below</a:t>
            </a:r>
            <a:endParaRPr lang="en-US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" y="3200400"/>
          <a:ext cx="8686802" cy="108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1858"/>
                <a:gridCol w="1049942"/>
                <a:gridCol w="990600"/>
                <a:gridCol w="1111305"/>
                <a:gridCol w="1306864"/>
                <a:gridCol w="1153115"/>
                <a:gridCol w="1153118"/>
              </a:tblGrid>
              <a:tr h="398793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DEFORMATION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aseline="0" dirty="0" smtClean="0"/>
                        <a:t>      1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aseline="0" dirty="0" smtClean="0"/>
                        <a:t>        2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aseline="0" dirty="0" smtClean="0"/>
                        <a:t>      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aseline="0" dirty="0" smtClean="0"/>
                        <a:t>        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aseline="0" dirty="0" smtClean="0"/>
                        <a:t>        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aseline="0" dirty="0" smtClean="0"/>
                        <a:t>        6</a:t>
                      </a:r>
                      <a:endParaRPr lang="en-US" dirty="0"/>
                    </a:p>
                  </a:txBody>
                  <a:tcPr/>
                </a:tc>
              </a:tr>
              <a:tr h="688327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MODAL ANALYSIS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4.0685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4.6018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7.2081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8.086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7.0641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8.0541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4876800"/>
          <a:ext cx="8382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/>
                <a:gridCol w="2794000"/>
                <a:gridCol w="27940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                  LIFE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               DAMAGE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FATIQUE ANALYSIS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1e6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1000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28800"/>
            <a:ext cx="8686800" cy="4251325"/>
          </a:xfrm>
        </p:spPr>
        <p:txBody>
          <a:bodyPr>
            <a:normAutofit/>
          </a:bodyPr>
          <a:lstStyle/>
          <a:p>
            <a:r>
              <a:rPr lang="en-IN" sz="2400" dirty="0" smtClean="0"/>
              <a:t>In this project I worked on wind mill turbine blade and analysis is done in </a:t>
            </a:r>
            <a:r>
              <a:rPr lang="en-IN" sz="2400" dirty="0" err="1" smtClean="0"/>
              <a:t>ansys</a:t>
            </a:r>
            <a:r>
              <a:rPr lang="en-IN" sz="2400" dirty="0" smtClean="0"/>
              <a:t> software . Analysis like transient ,modal , harmonic and </a:t>
            </a:r>
            <a:r>
              <a:rPr lang="en-IN" sz="2400" dirty="0" err="1" smtClean="0"/>
              <a:t>fatique</a:t>
            </a:r>
            <a:r>
              <a:rPr lang="en-IN" sz="2400" dirty="0" smtClean="0"/>
              <a:t> were performed to find stress ,strain , factor of safety and deformation , etc.</a:t>
            </a:r>
          </a:p>
          <a:p>
            <a:r>
              <a:rPr lang="en-IN" sz="2400" dirty="0" smtClean="0"/>
              <a:t>From the observation regarding the values obtained I can conclude that Aluminium Alloy can be best suited for wind turbine blade and it has given best results.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CONCLUSION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8000" dirty="0" smtClean="0"/>
              <a:t>Thank you</a:t>
            </a:r>
            <a:endParaRPr lang="en-US" sz="8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  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182</TotalTime>
  <Words>329</Words>
  <Application>Microsoft Office PowerPoint</Application>
  <PresentationFormat>On-screen Show (4:3)</PresentationFormat>
  <Paragraphs>82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Concourse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As I have calculated the deformation,stress,strain,factor of safety with aluminium and the same is shown as below</vt:lpstr>
      <vt:lpstr>CONCLUSION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dinesh chandra</dc:creator>
  <cp:lastModifiedBy>dinesh chandra</cp:lastModifiedBy>
  <cp:revision>24</cp:revision>
  <dcterms:created xsi:type="dcterms:W3CDTF">2006-08-16T00:00:00Z</dcterms:created>
  <dcterms:modified xsi:type="dcterms:W3CDTF">2019-09-06T14:31:04Z</dcterms:modified>
</cp:coreProperties>
</file>